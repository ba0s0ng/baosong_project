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8" r:id="rId3"/>
    <p:sldId id="280" r:id="rId5"/>
    <p:sldId id="267" r:id="rId6"/>
    <p:sldId id="268" r:id="rId7"/>
    <p:sldId id="259" r:id="rId8"/>
    <p:sldId id="266" r:id="rId9"/>
    <p:sldId id="264" r:id="rId10"/>
    <p:sldId id="270" r:id="rId11"/>
    <p:sldId id="257" r:id="rId12"/>
    <p:sldId id="260" r:id="rId13"/>
    <p:sldId id="263" r:id="rId14"/>
    <p:sldId id="265" r:id="rId15"/>
    <p:sldId id="271" r:id="rId16"/>
    <p:sldId id="272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巴别猫" initials="巴" lastIdx="1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7.xml"/><Relationship Id="rId2" Type="http://schemas.openxmlformats.org/officeDocument/2006/relationships/image" Target="../media/image1.jpe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4020" y="2209800"/>
            <a:ext cx="11485245" cy="2167255"/>
          </a:xfrm>
        </p:spPr>
        <p:txBody>
          <a:bodyPr>
            <a:noAutofit/>
          </a:bodyPr>
          <a:lstStyle/>
          <a:p>
            <a:r>
              <a:rPr lang="zh-CN" altLang="en-US" sz="40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4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知识科普】【纯本地化搭建】</a:t>
            </a:r>
            <a:br>
              <a:rPr lang="zh-CN" altLang="en-US" sz="4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40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+ RAGFlow </a:t>
            </a:r>
            <a:r>
              <a:rPr lang="zh-CN" altLang="en-US" sz="40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构建个人知识库</a:t>
            </a:r>
            <a:br>
              <a:rPr lang="zh-CN" altLang="en-US" sz="40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2024.02.04 by </a:t>
            </a:r>
            <a:r>
              <a:rPr lang="zh-CN" altLang="en-US" sz="14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再也不改了</a:t>
            </a:r>
            <a:r>
              <a:rPr lang="en-US" altLang="zh-CN" sz="14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2.0</a:t>
            </a:r>
            <a:endParaRPr lang="en-US" altLang="zh-CN" sz="140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8005" y="1123950"/>
            <a:ext cx="8941435" cy="3415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为什么不直接使用网页版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如何实现网页版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不能实现的需求？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目标效果预览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为什么要使用</a:t>
            </a:r>
            <a:r>
              <a:rPr lang="en-US" altLang="zh-CN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技术？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altLang="en-US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模型微调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的区别？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</a:t>
            </a:r>
            <a:r>
              <a:rPr lang="en-US" altLang="zh-CN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？为什么需要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模型”？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本地部署全流程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只想迅速搭建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个人知识库，可以不本地部署吗？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556895" y="765810"/>
            <a:ext cx="11096625" cy="76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48005" y="285750"/>
            <a:ext cx="9429750" cy="480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概览</a:t>
            </a:r>
            <a:endParaRPr lang="zh-CN" altLang="en-US" sz="2000" b="1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48005" y="807720"/>
            <a:ext cx="11095990" cy="2468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我们的需求：</a:t>
            </a: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绝对的隐私保护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个性化知识库构建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场景：比如如果你希望大模型能根据你们企业的规章制度来回答问题，那么首先你肯定需要将这些规章制度或者模型作为附件上传，但你仍然可能面临一些别的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问题：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一个是数据隐私问题；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联网使用大模型，所有数据均会上传到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服务器，数据隐私性无法得到保证；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第二个是上传文件的限制问题；一般来说网页版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对于文件上传数量是有限制的，因为解析附件需要额外的算力；即使你是付费用户，有时你想要上传的文件不是一个两个，而是几百个文件，也就是一个专业领域的知识库，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模型同样可能无力支持；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第三个问题是上传文件附件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方式使用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起来繁琐：仅仅只是将文件作为附件加入对话上下文，每一次想要让模型根据这些附件回答问题的时候，都需要重新上传附件；想要新增、删除、修改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已有的附件，同样也是很难实现的；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>
              <a:buFont typeface="Arial" panose="020B0604020202020204" pitchFamily="34" charset="0"/>
              <a:buNone/>
            </a:pP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05" y="454660"/>
            <a:ext cx="617664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一、为什么不直接使用网页版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altLang="en-US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48005" y="32766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二、如何实现网页版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不能实现的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需求？</a:t>
            </a:r>
            <a:endParaRPr lang="zh-CN" altLang="en-US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48005" y="3597275"/>
            <a:ext cx="11095990" cy="2794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隐私保护</a:t>
            </a:r>
            <a:endParaRPr lang="zh-CN" altLang="en-US" sz="1600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通过对话大模型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本地部署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解决隐私问题；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个性化知识库构建</a:t>
            </a:r>
            <a:endParaRPr lang="zh-CN" altLang="en-US" sz="1600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（Retrieval-Augmented Generation，检索增强生成）构建个人知识库。为此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我们需要：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57300" lvl="2" indent="-342900" algn="l">
              <a:buFont typeface="Arial" panose="020B0604020202020204" pitchFamily="34" charset="0"/>
              <a:buAutoNum type="arabicPeriod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本地部署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技术所需要的开源框架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57300" lvl="2" indent="-342900" algn="l">
              <a:buFont typeface="Arial" panose="020B0604020202020204" pitchFamily="34" charset="0"/>
              <a:buAutoNum type="arabicPeriod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本地部署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大模型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（或者直接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部署自带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模型的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版本）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969" r="1916"/>
          <a:stretch>
            <a:fillRect/>
          </a:stretch>
        </p:blipFill>
        <p:spPr>
          <a:xfrm>
            <a:off x="1023620" y="3937000"/>
            <a:ext cx="3282950" cy="2205355"/>
          </a:xfrm>
          <a:prstGeom prst="rect">
            <a:avLst/>
          </a:prstGeom>
        </p:spPr>
      </p:pic>
      <p:sp>
        <p:nvSpPr>
          <p:cNvPr id="3" name="云形标注 2"/>
          <p:cNvSpPr/>
          <p:nvPr/>
        </p:nvSpPr>
        <p:spPr>
          <a:xfrm>
            <a:off x="657860" y="875665"/>
            <a:ext cx="4019550" cy="2553335"/>
          </a:xfrm>
          <a:prstGeom prst="cloud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老板批评我没有按照《蟹堡王员工规范》礼貌对待客户，原因是我问了一下</a:t>
            </a:r>
            <a:r>
              <a:rPr lang="en-US" altLang="zh-CN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要怎么接待一</a:t>
            </a:r>
            <a:r>
              <a:rPr lang="zh-CN" altLang="en-US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大车沙丁鱼，</a:t>
            </a:r>
            <a:r>
              <a:rPr lang="en-US" altLang="zh-CN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说要</a:t>
            </a:r>
            <a:r>
              <a:rPr lang="zh-CN" altLang="en-US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立刻把它们放进</a:t>
            </a:r>
            <a:r>
              <a:rPr lang="zh-CN" altLang="en-US" sz="1400">
                <a:solidFill>
                  <a:schemeClr val="bg2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冷藏库……</a:t>
            </a:r>
            <a:endParaRPr lang="zh-CN" altLang="en-US" sz="1400">
              <a:solidFill>
                <a:schemeClr val="bg2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56530" y="145415"/>
            <a:ext cx="6543040" cy="6465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44220" y="363220"/>
            <a:ext cx="5179695" cy="947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lvl="0" indent="-285750" algn="l"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87680" y="4102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三、目标效果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预览</a:t>
            </a:r>
            <a:endParaRPr lang="zh-CN" altLang="en-US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548005" y="701040"/>
            <a:ext cx="11095990" cy="4998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大模型不知道你的这些私有知识，当它回答自己不知道的问题时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会出现“幻觉”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微调技术和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的区别：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微调：在已有的预训练模型基础上，再结合特定任务的数据集进一步对其进行训练，使得模型在这一领域中表现更好（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微调是考前复习，模型通过训练，消化吸收了这些知识然后给你回复）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：在生成回答之前，通过信息检索从外部知识库中查找与问题相关的知识，增强生成过程中的信息来源，从而提升生成的质量和准确性。（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是开卷考试，模型看到你的问题，开始翻你的知识库，以实时生成更准确的答案）；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（Retrieval-Augmented Generation）技术原理：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检索（Retrieval）：当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提出问题时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外部的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知识库中检索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与用户输入相关的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内容。</a:t>
            </a:r>
            <a:endParaRPr lang="zh-CN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增强（Augmentation）：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将检索到的信息与用户的输入结合，扩展模型的上下文。这让生成模型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（也就是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可以利用外部知识，使生成的答案更准确和丰富。</a:t>
            </a:r>
            <a:endParaRPr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生成（Generation）：生成模型基于增强后的输入生成</a:t>
            </a:r>
            <a:r>
              <a:rPr 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最终</a:t>
            </a:r>
            <a:r>
              <a:rPr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的回答。它结合用户输入和检索到的信息，生成符合逻辑、准确且可读的文本内容。</a:t>
            </a:r>
            <a:endParaRPr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48005" y="3422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四、为什么要使用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技术？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和模型微调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的区别？</a:t>
            </a:r>
            <a:endParaRPr lang="zh-CN" altLang="en-US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48005" y="495935"/>
            <a:ext cx="11095990" cy="5340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indent="-285750" algn="l">
              <a:buFont typeface="Arial" panose="020B0604020202020204" pitchFamily="34" charset="0"/>
              <a:buChar char="•"/>
            </a:pPr>
            <a:endParaRPr sz="14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-285750" algn="l">
              <a:buFont typeface="Arial" panose="020B0604020202020204" pitchFamily="34" charset="0"/>
              <a:buChar char="•"/>
            </a:pP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检索（Retrieval）：当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提出问题时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外部的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知识库中检索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与用户输入相关的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内容。</a:t>
            </a:r>
            <a:endParaRPr lang="zh-CN" sz="14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准备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外部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知识库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外部知识库可能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来自本地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的文件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、搜索引擎结果、API 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等等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。这样，RAG 不仅依赖于模型本身的内在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的、通过训练得到的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知识，还能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调用外部的信息进行补充。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我们要构建的就是一个基于本地文件的外部知识库；</a:t>
            </a:r>
            <a:endParaRPr sz="14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sz="1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 embedding 模型，对知识库文件进行解析：</a:t>
            </a:r>
            <a:r>
              <a:rPr lang="zh-CN" altLang="en-US" sz="1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文本是由自然语言组成的，这种格式不利于机器直接计算相似度。</a:t>
            </a:r>
            <a:r>
              <a:rPr lang="zh-CN" altLang="en-US" sz="14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 模型要做的，就是将自然语言转化为高维向量</a:t>
            </a:r>
            <a:r>
              <a:rPr lang="zh-CN" altLang="en-US" sz="1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，然后通过向量来捕捉到单词或句子背后的语义信息。比如，“蟹堡王”“比奇堡”“深度学习”三个词，embedding 会将蟹堡王和比奇堡映射到相近的向量空间中；而深度学习会被映射到离他们较远的向量空间中，这样通过</a:t>
            </a:r>
            <a:r>
              <a:rPr lang="en-US" altLang="zh-CN" sz="1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embeding</a:t>
            </a:r>
            <a:r>
              <a:rPr lang="zh-CN" altLang="en-US" sz="1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，机器就可以学习到自然语言之间的深度语义关系，并且依</a:t>
            </a:r>
            <a:r>
              <a:rPr lang="zh-CN" altLang="en-US" sz="1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此计算出不同文本之间的相似关系了；</a:t>
            </a:r>
            <a:endParaRPr lang="zh-CN" altLang="en-US" sz="14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 embedding 模型，对用户的提问进行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处理：用户的输入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同样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会经过嵌入（</a:t>
            </a:r>
            <a:r>
              <a:rPr lang="en-US" sz="14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r>
              <a:rPr sz="14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mbedding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）处理，生成一个高维向量。</a:t>
            </a:r>
            <a:endParaRPr sz="14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拿用户的提问去匹配本地知识库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：使用这个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用户输入生成的这个高纬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向量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去查询知识库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中有无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相关的文档片段。系统会利用某些相似度度量（如余弦相似度）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去判断这个相似度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这一整个过程可以理解为，上传并解析了知识库之后，相当于给知识库中每一个小的文段都生成了一个指纹；然后用户输入问题之后，这个问题同样也会生成一个独一无二的指纹，接着</a:t>
            </a:r>
            <a:r>
              <a:rPr lang="en-US" alt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系统就会拿着用户输入的这个指纹，在指纹库也就是知识库中匹配，找到相似的指纹，然后把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将检索到的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这些相关文段</a:t>
            </a:r>
            <a:r>
              <a:rPr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与用户的输入结合，扩展模型的上下文</a:t>
            </a:r>
            <a:r>
              <a:rPr 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，再喂给对话模型</a:t>
            </a:r>
            <a:r>
              <a:rPr lang="en-US" alt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模型的分类：</a:t>
            </a:r>
            <a:r>
              <a:rPr lang="en-US" alt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Chat</a:t>
            </a:r>
            <a:r>
              <a:rPr lang="zh-CN" altLang="en-US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模型、</a:t>
            </a:r>
            <a:r>
              <a:rPr lang="en-US" altLang="zh-CN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sz="14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模型；</a:t>
            </a:r>
            <a:endParaRPr lang="zh-CN" altLang="en-US" sz="14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05" y="136525"/>
            <a:ext cx="1096962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五、什么是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？为什么除了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外我还需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要“</a:t>
            </a:r>
            <a:r>
              <a:rPr lang="en-US" altLang="zh-CN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模型”？</a:t>
            </a:r>
            <a:endParaRPr lang="zh-CN" altLang="en-US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545" y="567055"/>
            <a:ext cx="1897380" cy="7264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文本数据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2320925" y="930275"/>
            <a:ext cx="13868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3707765" y="567055"/>
            <a:ext cx="1897380" cy="7264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Embedding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6991985" y="567055"/>
            <a:ext cx="1897380" cy="7264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向量数据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箭头连接符 7"/>
          <p:cNvCxnSpPr/>
          <p:nvPr>
            <p:custDataLst>
              <p:tags r:id="rId3"/>
            </p:custDataLst>
          </p:nvPr>
        </p:nvCxnSpPr>
        <p:spPr>
          <a:xfrm>
            <a:off x="5605145" y="930275"/>
            <a:ext cx="13868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4"/>
            </p:custDataLst>
          </p:nvPr>
        </p:nvCxnSpPr>
        <p:spPr>
          <a:xfrm>
            <a:off x="1130300" y="5467350"/>
            <a:ext cx="278257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129665" y="2973705"/>
            <a:ext cx="0" cy="249364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19" idx="2"/>
          </p:cNvCxnSpPr>
          <p:nvPr/>
        </p:nvCxnSpPr>
        <p:spPr>
          <a:xfrm flipV="1">
            <a:off x="1140460" y="3390900"/>
            <a:ext cx="607060" cy="2054860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5"/>
            </p:custDataLst>
          </p:nvPr>
        </p:nvCxnSpPr>
        <p:spPr>
          <a:xfrm flipV="1">
            <a:off x="1140460" y="3359150"/>
            <a:ext cx="813435" cy="2108200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>
            <p:custDataLst>
              <p:tags r:id="rId6"/>
            </p:custDataLst>
          </p:nvPr>
        </p:nvCxnSpPr>
        <p:spPr>
          <a:xfrm flipV="1">
            <a:off x="1129665" y="5178425"/>
            <a:ext cx="2397125" cy="268605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719195" y="5535295"/>
            <a:ext cx="545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x1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549910" y="2719070"/>
            <a:ext cx="5454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x2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1271270" y="3022600"/>
            <a:ext cx="9525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蟹堡王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1858010" y="3412490"/>
            <a:ext cx="9525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比奇堡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2649855" y="4789805"/>
            <a:ext cx="13868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深度学习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427355" y="4286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六、本地部署全流程</a:t>
            </a:r>
            <a:endParaRPr lang="zh-CN" altLang="en-US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487680" y="891540"/>
            <a:ext cx="11095990" cy="14992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lvl="0" indent="-342900" algn="l">
              <a:buFont typeface="Arial" panose="020B0604020202020204" pitchFamily="34" charset="0"/>
              <a:buAutoNum type="arabicPeriod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，通过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模型下载到本地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Font typeface="Arial" panose="020B0604020202020204" pitchFamily="34" charset="0"/>
              <a:buAutoNum type="arabicPeriod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源代码和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，通过</a:t>
            </a:r>
            <a:r>
              <a:rPr lang="en-US" altLang="zh-CN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本地部署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Font typeface="Arial" panose="020B0604020202020204" pitchFamily="34" charset="0"/>
              <a:buAutoNum type="arabicPeriod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中构建</a:t>
            </a:r>
            <a:r>
              <a:rPr lang="zh-CN" altLang="en-US" sz="1600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个人知识库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并实现基于个人知识库的对话问答；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56895" y="765810"/>
            <a:ext cx="11096625" cy="76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3550" y="285750"/>
            <a:ext cx="9429750" cy="480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lvl="0" indent="-342900" algn="l">
              <a:buFont typeface="Arial" panose="020B0604020202020204" pitchFamily="34" charset="0"/>
              <a:buAutoNum type="arabicPeriod"/>
            </a:pPr>
            <a:r>
              <a:rPr lang="zh-CN" altLang="en-US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</a:t>
            </a:r>
            <a:r>
              <a:rPr lang="en-US" altLang="zh-CN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</a:t>
            </a:r>
            <a:r>
              <a:rPr lang="zh-CN" altLang="en-US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，通过</a:t>
            </a:r>
            <a:r>
              <a:rPr lang="en-US" altLang="zh-CN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</a:t>
            </a:r>
            <a:r>
              <a:rPr lang="zh-CN" altLang="en-US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</a:t>
            </a:r>
            <a:r>
              <a:rPr lang="en-US" altLang="zh-CN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模型都下载到本地；</a:t>
            </a:r>
            <a:endParaRPr lang="zh-CN" altLang="en-US" sz="2000" b="1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6895" y="1200150"/>
            <a:ext cx="11096625" cy="53524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</a:t>
            </a: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</a:t>
            </a:r>
            <a:endParaRPr lang="en-US" altLang="zh-CN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是一个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用于本地运行和管理大语言模型（LLM）的工具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配置环境变量</a:t>
            </a:r>
            <a:endParaRPr lang="zh-CN" altLang="en-US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OLLAMA_HOST=0.0.0.0:11434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：让虚拟机里的程序能访问本机上运行的 Ollama 模型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是部署在虚拟机里的，默认情况下，Ollama 只能允许本机访问（监听 localhost:11434），其他设备（比如虚拟机）是无法连接的。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可能存在的问题：如果配置后虚拟机无法访问，可能是你的本机防火墙拦截了端口 11434，需要放行它。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如果你的 Ollama 只想给自己的虚拟机使用，而不想直接暴露 11434 端口让任何设备都能访问，你可以通过SSH 端口转发来实现；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OLLAMA_MODELS 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：默认模型下载到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盘，如果希望下载到其他盘可以配置；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注意配置之后保险起见一定要重启电脑；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</a:t>
            </a: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下载模型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deepseek-r1:32b</a:t>
            </a:r>
            <a:endParaRPr lang="en-US" altLang="zh-CN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ollama run deepseek-r1:32b；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56895" y="765810"/>
            <a:ext cx="11096625" cy="76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3550" y="272415"/>
            <a:ext cx="10045700" cy="480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None/>
            </a:pPr>
            <a:r>
              <a:rPr lang="en-US" altLang="zh-CN" sz="2000" b="1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2000" b="1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下载RAGflow源代码和docker，通过docker本地部署RAGflow；</a:t>
            </a:r>
            <a:endParaRPr lang="zh-CN" altLang="en-US" sz="2000" b="1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6895" y="1125220"/>
            <a:ext cx="11096625" cy="3963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源代码</a:t>
            </a:r>
            <a:endParaRPr lang="zh-CN" altLang="en-US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</a:t>
            </a:r>
            <a:endParaRPr lang="en-US" altLang="zh-CN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 镜像是一个封装好的环境，它包含了所有运行 RAGFlow 所需的依赖、库和配置。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如果安装遇到踩坑，可以自行搜索一下报错或者问一下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gpt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如果镜像拉不下来，可以配置docker的镜像源</a:t>
            </a:r>
            <a:endParaRPr lang="zh-CN" altLang="en-US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56895" y="765810"/>
            <a:ext cx="11096625" cy="76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3550" y="272415"/>
            <a:ext cx="10045700" cy="480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buFont typeface="Arial" panose="020B0604020202020204" pitchFamily="34" charset="0"/>
              <a:buNone/>
            </a:pPr>
            <a:r>
              <a:rPr lang="en-US" altLang="zh-CN" sz="2000" b="1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2000" b="1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2000" b="1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2000" b="1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中构建个人知识库并实现基于个人知识库的对话问答；</a:t>
            </a:r>
            <a:endParaRPr lang="zh-CN" altLang="en-US" sz="2000" b="1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6895" y="902970"/>
            <a:ext cx="11096625" cy="5052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中进行相关配置、上传文件构建个人知识库、调用本地部署的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解析处理上传的文件、调用本地部署的</a:t>
            </a:r>
            <a:r>
              <a:rPr lang="en-US" altLang="zh-CN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600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根据文件内容生成回答</a:t>
            </a:r>
            <a:endParaRPr lang="zh-CN" altLang="en-US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在“模型提供商”中添加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我们本地部署的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在“系统模型设置”中配置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Chat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模型（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）和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模型（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RAGFlow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自带的）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创建知识库，上传文件，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解析文件；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创建聊天助手（注意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prompt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tokens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配置）；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开始对话；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http://host.docker.internal:11434</a:t>
            </a:r>
            <a:endParaRPr lang="en-US" altLang="zh-CN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zh-CN" altLang="en-US" sz="1600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427355" y="428625"/>
            <a:ext cx="1008824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七、只想迅速搭建</a:t>
            </a:r>
            <a:r>
              <a:rPr lang="zh-CN" altLang="en-US" b="1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个人知识库，可以不本地部署吗？</a:t>
            </a:r>
            <a:endParaRPr lang="zh-CN" altLang="en-US" b="1">
              <a:solidFill>
                <a:schemeClr val="accent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487680" y="1052195"/>
            <a:ext cx="11095990" cy="5404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——当然可以！这样实现起来更简单，而且效果一般来说会更好；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具体步骤：</a:t>
            </a:r>
            <a:endParaRPr lang="zh-CN" altLang="en-US" sz="1600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下载RAG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low源代码和docker，通过docker本地部署RAG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low（RAG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low目前没有官方的网页版）；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r>
              <a:rPr lang="zh-CN" altLang="en-US" sz="16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low中配置任意的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Chat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模型和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模型（你需要到这些模型对应的官网去付费申请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apiKey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AutoNum type="arabicPeriod"/>
            </a:pP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algn="l">
              <a:buFont typeface="Arial" panose="020B0604020202020204" pitchFamily="34" charset="0"/>
              <a:buNone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一般来说，直接使用在线模型肯定更简单，因为你不需要本地部署大模型了；然后直接使用企业的在线模型，性能肯定更优越，因为你在本地部署的模型参数量肯定没发跟人家比；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algn="l">
              <a:buFont typeface="Arial" panose="020B0604020202020204" pitchFamily="34" charset="0"/>
              <a:buNone/>
            </a:pP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algn="l">
              <a:buFont typeface="Arial" panose="020B0604020202020204" pitchFamily="34" charset="0"/>
              <a:buNone/>
            </a:pP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但是，使用在线模型，你无法保证数据的绝对隐私性，同时很多企业</a:t>
            </a:r>
            <a:r>
              <a:rPr lang="en-US" altLang="zh-CN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altLang="en-US" sz="1600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虽然有免费额度，但是用着用着就会开始收费了；</a:t>
            </a:r>
            <a:endParaRPr lang="zh-CN" altLang="en-US" sz="1600"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8005" y="1123950"/>
            <a:ext cx="8941435" cy="3415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为什么不直接使用网页版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如何实现网页版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不能实现的需求？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目标效果预览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为什么要使用</a:t>
            </a:r>
            <a:r>
              <a:rPr lang="en-US" altLang="zh-CN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技术？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altLang="en-US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模型微调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的区别？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</a:t>
            </a:r>
            <a:r>
              <a:rPr lang="en-US" altLang="zh-CN">
                <a:solidFill>
                  <a:schemeClr val="accent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？为什么需要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en-US" altLang="zh-CN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Embedding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模型”？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本地部署全流程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只想迅速搭建</a:t>
            </a:r>
            <a:r>
              <a:rPr lang="zh-CN" altLang="en-US"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知识库，可以不本地部署吗？</a:t>
            </a:r>
            <a:endParaRPr lang="zh-CN" altLang="en-US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556895" y="765810"/>
            <a:ext cx="11096625" cy="762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48005" y="285750"/>
            <a:ext cx="9429750" cy="480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概览</a:t>
            </a:r>
            <a:endParaRPr lang="zh-CN" altLang="en-US" sz="2000" b="1">
              <a:solidFill>
                <a:schemeClr val="tx1"/>
              </a:solidFill>
              <a:highlight>
                <a:srgbClr val="000000">
                  <a:alpha val="0"/>
                </a:srgbClr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3627</Words>
  <Application>WPS 演示</Application>
  <PresentationFormat>宽屏</PresentationFormat>
  <Paragraphs>132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【知识科普】【纯本地化搭建】 DeepSeek + RAGFlow 构建个人知识库 2024.02.04 by 再也不改了2.0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尹健</cp:lastModifiedBy>
  <cp:revision>884</cp:revision>
  <dcterms:created xsi:type="dcterms:W3CDTF">2025-02-08T16:01:00Z</dcterms:created>
  <dcterms:modified xsi:type="dcterms:W3CDTF">2025-09-22T07:18:51Z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04388EACDEF1689E9678A0672FCBEE1C_41</vt:lpwstr>
  </property>
</Properties>
</file>